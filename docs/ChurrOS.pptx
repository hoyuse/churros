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bold ns1:id="rIdFont20"/>
      <ns0:regular ns1:id="rIdFont21"/>
    </ns0:embeddedFont>
    <ns0:embeddedFont>
      <ns0:font typeface="Plus Jakarta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63ba6a08-823e-496f-9dcc-e1f41a92f002.fntdata" /><ns0:Relationship Id="rIdFont21" Type="http://schemas.openxmlformats.org/officeDocument/2006/relationships/font" Target="fonts/dc94cdc7-010b-4e40-ba68-1e1874261b3b.fntdata" /><ns0:Relationship Id="rIdFont22" Type="http://schemas.openxmlformats.org/officeDocument/2006/relationships/font" Target="fonts/c1cae28d-2b99-4d7f-90d1-9108daf02248.fntdata" /><ns0:Relationship Id="rIdFont23" Type="http://schemas.openxmlformats.org/officeDocument/2006/relationships/font" Target="fonts/1e102988-7126-4e7c-ba8b-ab1db6d2035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82430"/>
            <a:ext cx="495300" cy="28575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38700" y="2223194"/>
            <a:ext cx="2667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470844"/>
            <a:ext cx="990123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AFAF9"/>
                </a:solidFill>
                <a:latin typeface="Plus Jakarta Sans"/>
              </a:rPr>
              <a:t>ChurrOS: Linux colombiano para hardware limitado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44230"/>
            <a:ext cx="7334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A8A29E"/>
                </a:solidFill>
                <a:latin typeface="Plus Jakarta Sans"/>
              </a:rPr>
              <a:t>Análisis técnico, arquitectura del sistema y rescate de hardware educativo contra la obsolescencia.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46994"/>
            <a:ext cx="5143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CURSO LIBRE UNIVERSITARIO // SISTEMAS OPERATIVOS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6687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4219"/>
            <a:ext cx="5334000" cy="2289571"/>
          </a:xfrm>
          <a:prstGeom prst="roundRect">
            <a:avLst>
              <a:gd name="adj" fmla="val 665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804219"/>
            <a:ext cx="5334000" cy="2289571"/>
          </a:xfrm>
          <a:prstGeom prst="roundRect">
            <a:avLst>
              <a:gd name="adj" fmla="val 665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5664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15664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3280469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280469"/>
            <a:ext cx="209550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Obsolescencia Tecnológica vs. ChurrOS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228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DIAGNÓSTICO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804344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Sistemas Comerciales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85344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Requisitos crecientes de telemetría y memoria.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501455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Exclusión de equipos educativos perfectamente viables.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804344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Propuesta ChurrOS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185344"/>
            <a:ext cx="55911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Optimización profunda del espacio de usuario.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501455"/>
            <a:ext cx="55911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Extensión del ciclo de vida en aulas universitarias.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412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85182"/>
            <a:ext cx="3505200" cy="2089546"/>
          </a:xfrm>
          <a:prstGeom prst="roundRect">
            <a:avLst>
              <a:gd name="adj" fmla="val 729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6522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6522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9950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7955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79551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33285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12901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212901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Base Arch Linux &amp; Framework ArchISO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CIMIENTOS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4720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Base Arch Pura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180582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Distribución minimalista sin paquetes innecesarios.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72725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ArchISO Toolset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060626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Creación reproducible de imágenes arrancables personalizadas.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72725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Rolling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060626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Actualizaciones continuas sin reinstalaciones destructivas de 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38550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13782"/>
            <a:ext cx="2628900" cy="1632346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993826"/>
            <a:ext cx="2628900" cy="1872257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113782"/>
            <a:ext cx="2628900" cy="1632346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3113782"/>
            <a:ext cx="2628900" cy="1632346"/>
          </a:xfrm>
          <a:prstGeom prst="roundRect">
            <a:avLst>
              <a:gd name="adj" fmla="val 933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Pipeline de Compilación con ArchISO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3643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FLUJO DE CONSTRUCCIÓN // MKARCHISO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370957"/>
            <a:ext cx="278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05A47"/>
                </a:solidFill>
                <a:latin typeface="JetBrains Mono"/>
              </a:rPr>
              <a:t>01. pacstrap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713857"/>
            <a:ext cx="29253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Bootstrap Limpio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009132"/>
            <a:ext cx="23241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Descarga paquetes base en un chroot nuevo.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0925" y="3251001"/>
            <a:ext cx="278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05A47"/>
                </a:solidFill>
                <a:latin typeface="JetBrains Mono"/>
              </a:rPr>
              <a:t>02. airootfs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0925" y="3593901"/>
            <a:ext cx="29253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Personalización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0925" y="3889176"/>
            <a:ext cx="23241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Inyección de configuraciones del sistema ChurrOS.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3370957"/>
            <a:ext cx="278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05A47"/>
                </a:solidFill>
                <a:latin typeface="JetBrains Mono"/>
              </a:rPr>
              <a:t>03. mksquashfs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3713857"/>
            <a:ext cx="29253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Compresión SFS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2225" y="4009132"/>
            <a:ext cx="23241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Empaquetado de imagen inmutable de solo lectura.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525" y="3370957"/>
            <a:ext cx="278606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05A47"/>
                </a:solidFill>
                <a:latin typeface="JetBrains Mono"/>
              </a:rPr>
              <a:t>04. xorriso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525" y="3713857"/>
            <a:ext cx="29253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C1917"/>
                </a:solidFill>
                <a:latin typeface="Plus Jakarta Sans"/>
              </a:rPr>
              <a:t>ISO Híbrida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525" y="4009132"/>
            <a:ext cx="23241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Generación de arranque dual UEFI y BIOS.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2427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3326"/>
            <a:ext cx="5334000" cy="2253257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803326"/>
            <a:ext cx="5334000" cy="2253257"/>
          </a:xfrm>
          <a:prstGeom prst="roundRect">
            <a:avLst>
              <a:gd name="adj" fmla="val 676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189089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189089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3303389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837" y="3303389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Arranque en RAM: SquashFS &amp; OverlayFS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3750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EJECUCIÓN EN MEMORIA // LIVE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793926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Sistema de archivos base comprimido en el pendrive.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129087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Protección total contra corrupción de archivos.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464248"/>
            <a:ext cx="57864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Arranque idéntico en cada encendido del equipo.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793926"/>
            <a:ext cx="55911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Espacio virtual volátil montado sobre tmpfs.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4129087"/>
            <a:ext cx="55911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Permite instalar paquetes durante la sesión en vivo.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4464248"/>
            <a:ext cx="55911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Liberación automática de memoria al reiniciar la máquina.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5425" y="3155751"/>
            <a:ext cx="19621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5A47"/>
                </a:solidFill>
                <a:latin typeface="Plus Jakarta Sans"/>
              </a:rPr>
              <a:t>Capa Inferior (Solo Lectura)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4225" y="3155751"/>
            <a:ext cx="24288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5A47"/>
                </a:solidFill>
                <a:latin typeface="Plus Jakarta Sans"/>
              </a:rPr>
              <a:t>Capa Superior (Lectura y Escritura)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5425" y="3374826"/>
            <a:ext cx="24503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SquashFS (.sfs)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225" y="3374826"/>
            <a:ext cx="306288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OverlayFS en 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6702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53125" y="2677417"/>
            <a:ext cx="5629275" cy="2505075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Sistema de Inicialización: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2678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CONTROL DE INICIALIZACIÓN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77455"/>
            <a:ext cx="656332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C1917"/>
                </a:solidFill>
                <a:latin typeface="Plus Jakarta Sans"/>
              </a:rPr>
              <a:t>Init estándar y orquestación PID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44180"/>
            <a:ext cx="50958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ChurrOS adopta </a:t>
            </a:r>
            <a:r>
              <a:rPr b="1" sz="1350" i="0" u="none">
                <a:solidFill>
                  <a:srgbClr val="57534E"/>
                </a:solidFill>
                <a:latin typeface="Plus Jakarta Sans"/>
              </a:rPr>
              <a:t>systemd</a:t>
            </a:r>
            <a:r>
              <a:rPr b="0" sz="1350" i="0" u="none">
                <a:solidFill>
                  <a:srgbClr val="57534E"/>
                </a:solidFill>
                <a:latin typeface="Plus Jakarta Sans"/>
              </a:rPr>
              <a:t> como administrador nativo de servicios, asegurando compatibilidad completa con el ecosistema de Arch Linux.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368105"/>
            <a:ext cx="50958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Optimiza el arranque mediante activación de sockets bajo demanda y supresión de demonios secundarios.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2991742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05A47"/>
                </a:solidFill>
                <a:latin typeface="JetBrains Mono"/>
              </a:rPr>
              <a:t>UNIDADES SYSTEMD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3344167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JetBrains Mono"/>
              </a:rPr>
              <a:t>NetworkManager.service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7450" y="3563242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Plus Jakarta Sans"/>
              </a:rPr>
              <a:t>Gestión automática de interfaces cableadas e inalámbricas.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3896617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JetBrains Mono"/>
              </a:rPr>
              <a:t>systemd-journald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7450" y="4115692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Plus Jakarta Sans"/>
              </a:rPr>
              <a:t>Registro binario indexado con rotación compacta en 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4449067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C1917"/>
                </a:solidFill>
                <a:latin typeface="JetBrains Mono"/>
              </a:rPr>
              <a:t>pipewire / wireplumber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7450" y="4668142"/>
            <a:ext cx="5924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8716C"/>
                </a:solidFill>
                <a:latin typeface="Plus Jakarta Sans"/>
              </a:rPr>
              <a:t>Servicios de audio y multimedia por usuario sin sobrecoste.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5267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7196"/>
            <a:ext cx="5334000" cy="2245518"/>
          </a:xfrm>
          <a:prstGeom prst="roundRect">
            <a:avLst>
              <a:gd name="adj" fmla="val 6786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811958"/>
            <a:ext cx="5334000" cy="2235993"/>
          </a:xfrm>
          <a:prstGeom prst="roundRect">
            <a:avLst>
              <a:gd name="adj" fmla="val 6815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40571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45333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Gestor de Paquetes: Pacman &amp; Repositorio AUR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203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GESTIÓN DE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40621"/>
            <a:ext cx="5881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Gestor nativo en lenguaje C ultra veloz.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94832"/>
            <a:ext cx="5881687" cy="249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Compresión de paquetes en formato </a:t>
            </a:r>
            <a:r>
              <a:rPr b="0" sz="1350" i="0" u="none">
                <a:solidFill>
                  <a:srgbClr val="57534E"/>
                </a:solidFill>
                <a:latin typeface="Plus Jakarta Sans"/>
              </a:rPr>
              <a:t>.pkg.tar.zst</a:t>
            </a:r>
            <a:r>
              <a:rPr b="0" sz="1350" i="0" u="none">
                <a:solidFill>
                  <a:srgbClr val="57534E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58567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Transacciones atómicas y resolución precisa de dependencias.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45383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Arch User Repository impulsado por recetas PKGBUILD.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899594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Acceso a más de 85.000 aplicaciones compilables.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253805"/>
            <a:ext cx="4800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Instalación de paquetes educativos sin repositorios externos complejos.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3121521"/>
            <a:ext cx="238779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Pacman (Binarios)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126283"/>
            <a:ext cx="241280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AUR (Comunidad)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09850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50964"/>
            <a:ext cx="5334000" cy="1957982"/>
          </a:xfrm>
          <a:prstGeom prst="roundRect">
            <a:avLst>
              <a:gd name="adj" fmla="val 778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950964"/>
            <a:ext cx="5334000" cy="1957982"/>
          </a:xfrm>
          <a:prstGeom prst="roundRect">
            <a:avLst>
              <a:gd name="adj" fmla="val 778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10150" y="3284339"/>
            <a:ext cx="619125" cy="228600"/>
          </a:xfrm>
          <a:prstGeom prst="roundRect">
            <a:avLst>
              <a:gd name="adj" fmla="val 25000"/>
            </a:avLst>
          </a:prstGeom>
          <a:solidFill>
            <a:srgbClr val="FF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48925" y="3284339"/>
            <a:ext cx="819150" cy="228600"/>
          </a:xfrm>
          <a:prstGeom prst="roundRect">
            <a:avLst>
              <a:gd name="adj" fmla="val 25000"/>
            </a:avLst>
          </a:prstGeom>
          <a:solidFill>
            <a:srgbClr val="FF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Entornos Duales: Niri (Wayland) y XFCE (X11)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2357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SERVIDORES DE VENTANAS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84389"/>
            <a:ext cx="5881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Gestor dinámico por mosaicos y columnas infinitas.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19550"/>
            <a:ext cx="5881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Cero tearing gráfico con renderizado directo en GPU.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4710"/>
            <a:ext cx="5881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Control ágil mediante atajos de teclado sin ratón.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84389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Escritorio tradicional con paneles, iconos y menú.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019550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Máxima compatibilidad con tarjetas gráficas legacy.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354710"/>
            <a:ext cx="56292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Consumo mínimo de ciclos de reloj de procesador.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265289"/>
            <a:ext cx="1500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Edición Niri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6350" y="3322439"/>
            <a:ext cx="561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5A47"/>
                </a:solidFill>
                <a:latin typeface="JetBrains Mono"/>
              </a:rPr>
              <a:t>WAYLAND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65289"/>
            <a:ext cx="17752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Plus Jakarta Sans"/>
              </a:rPr>
              <a:t>Edición XFCE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5125" y="3322439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05A47"/>
                </a:solidFill>
                <a:latin typeface="JetBrains Mono"/>
              </a:rPr>
              <a:t>X11 / XORG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9925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78509"/>
            <a:ext cx="3530649" cy="1702891"/>
          </a:xfrm>
          <a:prstGeom prst="roundRect">
            <a:avLst>
              <a:gd name="adj" fmla="val 8949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3078509"/>
            <a:ext cx="3530649" cy="1702891"/>
          </a:xfrm>
          <a:prstGeom prst="roundRect">
            <a:avLst>
              <a:gd name="adj" fmla="val 8949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3078509"/>
            <a:ext cx="3530649" cy="1702891"/>
          </a:xfrm>
          <a:prstGeom prst="roundRect">
            <a:avLst>
              <a:gd name="adj" fmla="val 8949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Flujo de Instalación con Calamares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3107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DESPLIEGUE Y PUESTA EN MARCHA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354734"/>
            <a:ext cx="37227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05A47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64309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Particionado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78634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7534E"/>
                </a:solidFill>
                <a:latin typeface="Plus Jakarta Sans"/>
              </a:rPr>
              <a:t>Detección de esquemas GPT/MBR con soporte ext4 y btrfs.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354734"/>
            <a:ext cx="37227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05A47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764309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Desempaquetado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4078634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7534E"/>
                </a:solidFill>
                <a:latin typeface="Plus Jakarta Sans"/>
              </a:rPr>
              <a:t>Copia squashfs de la imagen live hacia el disco destino.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354734"/>
            <a:ext cx="37227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05A47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8124" y="3764309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Configuración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4078634"/>
            <a:ext cx="30734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7534E"/>
                </a:solidFill>
                <a:latin typeface="Plus Jakarta Sans"/>
              </a:rPr>
              <a:t>Localización en Bogotá, creación de usuarios y GRUB/systemd-boot.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09850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3362" y="3377505"/>
            <a:ext cx="9525" cy="1143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77212" y="3377505"/>
            <a:ext cx="9525" cy="1143000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Eficiencia Probada en Equipos Limitados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2357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MÉTRICAS CUANTITATIVAS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253" y="3401317"/>
            <a:ext cx="3417093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b="1" sz="5700" i="0" u="none">
                <a:solidFill>
                  <a:srgbClr val="E05A47"/>
                </a:solidFill>
                <a:latin typeface="Plus Jakarta Sans"/>
              </a:rPr>
              <a:t>600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253" y="4277617"/>
            <a:ext cx="3417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Plus Jakarta Sans"/>
              </a:rPr>
              <a:t>Consumo de RAM en reposo (Idle)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0753" y="3401317"/>
            <a:ext cx="3988593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b="1" sz="5700" i="0" u="none">
                <a:solidFill>
                  <a:srgbClr val="1C1917"/>
                </a:solidFill>
                <a:latin typeface="Plus Jakarta Sans"/>
              </a:rPr>
              <a:t>20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0753" y="4277617"/>
            <a:ext cx="39885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Plus Jakarta Sans"/>
              </a:rPr>
              <a:t>Almacenamiento mínimo recomendado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6515" y="3401317"/>
            <a:ext cx="3369468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b="1" sz="5700" i="0" u="none">
                <a:solidFill>
                  <a:srgbClr val="E05A47"/>
                </a:solidFill>
                <a:latin typeface="Plus Jakarta Sans"/>
              </a:rPr>
              <a:t>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6515" y="4277617"/>
            <a:ext cx="3369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7534E"/>
                </a:solidFill>
                <a:latin typeface="Plus Jakarta Sans"/>
              </a:rPr>
              <a:t>Capacidad USB para Live Session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38550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98601"/>
            <a:ext cx="3505200" cy="1662707"/>
          </a:xfrm>
          <a:prstGeom prst="roundRect">
            <a:avLst>
              <a:gd name="adj" fmla="val 9165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098601"/>
            <a:ext cx="3505200" cy="1662707"/>
          </a:xfrm>
          <a:prstGeom prst="roundRect">
            <a:avLst>
              <a:gd name="adj" fmla="val 9165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218557"/>
            <a:ext cx="3505200" cy="1422796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Estructura del Proyecto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3643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INGENIERÍA INVERSA DEL 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12926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05A47"/>
                </a:solidFill>
                <a:latin typeface="JetBrains Mono"/>
              </a:rPr>
              <a:t>packages.x86_64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27251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Lista exacta de paquetes del sistema base, utilidades de red y escritorio.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12926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05A47"/>
                </a:solidFill>
                <a:latin typeface="JetBrains Mono"/>
              </a:rPr>
              <a:t>airootfs/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727251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Overlay del sistema de archivos con configuraciones, temas y demonios.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532882"/>
            <a:ext cx="3595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05A47"/>
                </a:solidFill>
                <a:latin typeface="JetBrains Mono"/>
              </a:rPr>
              <a:t>profiledef.sh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847207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Metadatos de la ISO, etiquetas de volumen y permisos de ejecución.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38400" y="609600"/>
            <a:ext cx="228600" cy="1905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522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765226"/>
            <a:ext cx="3505200" cy="2329457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85182"/>
            <a:ext cx="3505200" cy="2089546"/>
          </a:xfrm>
          <a:prstGeom prst="roundRect">
            <a:avLst>
              <a:gd name="adj" fmla="val 7293"/>
            </a:avLst>
          </a:prstGeom>
          <a:solidFill>
            <a:srgbClr val="FFFFFF"/>
          </a:solidFill>
          <a:ln w="952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9551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79551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9950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212901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6787" y="3212901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3332857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819150"/>
            <a:ext cx="115824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C1917"/>
                </a:solidFill>
                <a:latin typeface="Plus Jakarta Sans"/>
              </a:rPr>
              <a:t>Potencial en Cursos Libres y Laboratorios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2143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5A47"/>
                </a:solidFill>
                <a:latin typeface="JetBrains Mono"/>
              </a:rPr>
              <a:t>EXTENSIÓN Y DOCENCIA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72725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Salas Universitarias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060626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Reutilización de ordenadores descontinuados por soporte oficial.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727251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Laboratorios GNU/Linux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4060626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Estudio práctico de gestión de procesos, compilación e init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84720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Plus Jakarta Sans"/>
              </a:rPr>
              <a:t>Impacto Comunitario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180582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7534E"/>
                </a:solidFill>
                <a:latin typeface="Plus Jakarta Sans"/>
              </a:rPr>
              <a:t>Participación estudiantil directa en empaquetado y traducción.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630042"/>
            <a:ext cx="457200" cy="28575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88656" y="2199382"/>
            <a:ext cx="3214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05A47"/>
                </a:solidFill>
                <a:latin typeface="JetBrains Mono"/>
              </a:rPr>
              <a:t>SOFTWARE LIBRE LATINOAMERICANO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523232"/>
            <a:ext cx="100012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AFAF9"/>
                </a:solidFill>
                <a:latin typeface="Plus Jakarta Sans"/>
              </a:rPr>
              <a:t>¿Preguntas o Aportes al Proyecto?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6156" y="3810892"/>
            <a:ext cx="51196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A8A29E"/>
                </a:solidFill>
                <a:latin typeface="Plus Jakarta Sans"/>
              </a:rPr>
              <a:t>Repositorio oficial: </a:t>
            </a:r>
            <a:r>
              <a:rPr b="1" sz="1350" i="0" u="none">
                <a:solidFill>
                  <a:srgbClr val="A8A29E"/>
                </a:solidFill>
                <a:latin typeface="Plus Jakarta Sans"/>
              </a:rPr>
              <a:t>github.com/Hoyuse/ChurrOS</a:t>
            </a:r>
            <a:r>
              <a:t>
</a:t>
            </a:r>
            <a:r>
              <a:rPr b="0" sz="1350" i="0" u="none">
                <a:solidFill>
                  <a:srgbClr val="A8A29E"/>
                </a:solidFill>
                <a:latin typeface="Plus Jakarta Sans"/>
              </a:rPr>
              <a:t> Web oficial: </a:t>
            </a:r>
            <a:r>
              <a:rPr b="1" sz="1350" i="0" u="none">
                <a:solidFill>
                  <a:srgbClr val="A8A29E"/>
                </a:solidFill>
                <a:latin typeface="Plus Jakarta Sans"/>
              </a:rPr>
              <a:t>churroslinux.org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